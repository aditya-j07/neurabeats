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5a4fee97f6d8b0d1_1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5a4fee97f6d8b0d1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a4fee97f6d8b0d1_9_0)">
  <p:cSld name="Generated (h5a4fee97f6d8b0d1_9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41.png"/><Relationship Id="rId22" Type="http://schemas.openxmlformats.org/officeDocument/2006/relationships/image" Target="../media/image38.png"/><Relationship Id="rId21" Type="http://schemas.openxmlformats.org/officeDocument/2006/relationships/image" Target="../media/image40.png"/><Relationship Id="rId24" Type="http://schemas.openxmlformats.org/officeDocument/2006/relationships/image" Target="../media/image39.png"/><Relationship Id="rId23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26" Type="http://schemas.openxmlformats.org/officeDocument/2006/relationships/image" Target="../media/image35.png"/><Relationship Id="rId25" Type="http://schemas.openxmlformats.org/officeDocument/2006/relationships/image" Target="../media/image43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Relationship Id="rId11" Type="http://schemas.openxmlformats.org/officeDocument/2006/relationships/image" Target="../media/image11.png"/><Relationship Id="rId10" Type="http://schemas.openxmlformats.org/officeDocument/2006/relationships/image" Target="../media/image16.png"/><Relationship Id="rId13" Type="http://schemas.openxmlformats.org/officeDocument/2006/relationships/image" Target="../media/image18.png"/><Relationship Id="rId12" Type="http://schemas.openxmlformats.org/officeDocument/2006/relationships/image" Target="../media/image21.png"/><Relationship Id="rId15" Type="http://schemas.openxmlformats.org/officeDocument/2006/relationships/image" Target="../media/image24.png"/><Relationship Id="rId14" Type="http://schemas.openxmlformats.org/officeDocument/2006/relationships/image" Target="../media/image23.png"/><Relationship Id="rId17" Type="http://schemas.openxmlformats.org/officeDocument/2006/relationships/image" Target="../media/image34.png"/><Relationship Id="rId16" Type="http://schemas.openxmlformats.org/officeDocument/2006/relationships/image" Target="../media/image29.png"/><Relationship Id="rId19" Type="http://schemas.openxmlformats.org/officeDocument/2006/relationships/image" Target="../media/image37.png"/><Relationship Id="rId18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/>
          <p:nvPr/>
        </p:nvSpPr>
        <p:spPr>
          <a:xfrm>
            <a:off x="14987975" y="8844300"/>
            <a:ext cx="1175100" cy="153300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F4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/>
          <p:nvPr/>
        </p:nvSpPr>
        <p:spPr>
          <a:xfrm>
            <a:off x="14987975" y="8844300"/>
            <a:ext cx="1175100" cy="153300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F4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/>
          <p:nvPr/>
        </p:nvSpPr>
        <p:spPr>
          <a:xfrm>
            <a:off x="14987975" y="8844300"/>
            <a:ext cx="1175100" cy="153300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F4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/>
          <p:nvPr/>
        </p:nvSpPr>
        <p:spPr>
          <a:xfrm>
            <a:off x="14987975" y="8844300"/>
            <a:ext cx="1175100" cy="153300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F4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/>
          <p:nvPr/>
        </p:nvSpPr>
        <p:spPr>
          <a:xfrm>
            <a:off x="14987975" y="8844300"/>
            <a:ext cx="1175100" cy="153300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F4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/>
          <p:nvPr/>
        </p:nvSpPr>
        <p:spPr>
          <a:xfrm>
            <a:off x="14987975" y="8844300"/>
            <a:ext cx="1175100" cy="153300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F4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/>
          <p:nvPr/>
        </p:nvSpPr>
        <p:spPr>
          <a:xfrm>
            <a:off x="14987975" y="8844300"/>
            <a:ext cx="1175100" cy="153300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F4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/>
          <p:nvPr/>
        </p:nvSpPr>
        <p:spPr>
          <a:xfrm>
            <a:off x="14987975" y="8844300"/>
            <a:ext cx="1175100" cy="153300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F4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/>
        </p:nvSpPr>
        <p:spPr>
          <a:xfrm>
            <a:off x="762000" y="457200"/>
            <a:ext cx="1473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92C"/>
                </a:solidFill>
                <a:latin typeface="Arial"/>
                <a:ea typeface="Arial"/>
                <a:cs typeface="Arial"/>
                <a:sym typeface="Arial"/>
              </a:rPr>
              <a:t>NeuroBeat: Closed-Loop AI Architecture</a:t>
            </a:r>
            <a:endParaRPr b="1" sz="2800">
              <a:solidFill>
                <a:srgbClr val="0B192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22"/>
          <p:cNvGrpSpPr/>
          <p:nvPr/>
        </p:nvGrpSpPr>
        <p:grpSpPr>
          <a:xfrm>
            <a:off x="752475" y="1228725"/>
            <a:ext cx="2686200" cy="4686300"/>
            <a:chOff x="-9525" y="-9525"/>
            <a:chExt cx="2686200" cy="4686300"/>
          </a:xfrm>
        </p:grpSpPr>
        <p:pic>
          <p:nvPicPr>
            <p:cNvPr id="135" name="Google Shape;135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2686200" cy="468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22"/>
            <p:cNvSpPr txBox="1"/>
            <p:nvPr/>
          </p:nvSpPr>
          <p:spPr>
            <a:xfrm>
              <a:off x="228600" y="190500"/>
              <a:ext cx="2209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B192C"/>
                  </a:solidFill>
                  <a:latin typeface="Arial"/>
                  <a:ea typeface="Arial"/>
                  <a:cs typeface="Arial"/>
                  <a:sym typeface="Arial"/>
                </a:rPr>
                <a:t>1. Edge Perception</a:t>
              </a:r>
              <a:endParaRPr b="1" sz="1300">
                <a:solidFill>
                  <a:srgbClr val="0B192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" name="Google Shape;137;p22"/>
            <p:cNvGrpSpPr/>
            <p:nvPr/>
          </p:nvGrpSpPr>
          <p:grpSpPr>
            <a:xfrm>
              <a:off x="185738" y="566738"/>
              <a:ext cx="2295600" cy="819300"/>
              <a:chOff x="-4762" y="-4762"/>
              <a:chExt cx="2295600" cy="819300"/>
            </a:xfrm>
          </p:grpSpPr>
          <p:pic>
            <p:nvPicPr>
              <p:cNvPr id="138" name="Google Shape;138;p2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2295600" cy="819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" name="Google Shape;139;p22"/>
              <p:cNvSpPr txBox="1"/>
              <p:nvPr/>
            </p:nvSpPr>
            <p:spPr>
              <a:xfrm>
                <a:off x="152400" y="114300"/>
                <a:ext cx="1981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93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👤 Patient Input</a:t>
                </a:r>
                <a:endParaRPr b="1" sz="893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765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Movement &amp; Voice Capture via Webcam/Mic</a:t>
                </a:r>
                <a:endParaRPr b="0" sz="76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" name="Google Shape;140;p22"/>
            <p:cNvGrpSpPr/>
            <p:nvPr/>
          </p:nvGrpSpPr>
          <p:grpSpPr>
            <a:xfrm>
              <a:off x="185738" y="1519238"/>
              <a:ext cx="2295600" cy="914400"/>
              <a:chOff x="-4762" y="-4762"/>
              <a:chExt cx="2295600" cy="914400"/>
            </a:xfrm>
          </p:grpSpPr>
          <p:pic>
            <p:nvPicPr>
              <p:cNvPr id="141" name="Google Shape;141;p2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22956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2" name="Google Shape;142;p22"/>
              <p:cNvSpPr txBox="1"/>
              <p:nvPr/>
            </p:nvSpPr>
            <p:spPr>
              <a:xfrm>
                <a:off x="152400" y="114300"/>
                <a:ext cx="19812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93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🤖 MediaPipe Landmarker</a:t>
                </a:r>
                <a:endParaRPr b="1" sz="893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765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Runs locally on WebAssembly for 33 3D skeletal points</a:t>
                </a:r>
                <a:endParaRPr b="0" sz="76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" name="Google Shape;143;p22"/>
            <p:cNvGrpSpPr/>
            <p:nvPr/>
          </p:nvGrpSpPr>
          <p:grpSpPr>
            <a:xfrm>
              <a:off x="185738" y="2566988"/>
              <a:ext cx="2295600" cy="1009800"/>
              <a:chOff x="-4762" y="-4762"/>
              <a:chExt cx="2295600" cy="1009800"/>
            </a:xfrm>
          </p:grpSpPr>
          <p:pic>
            <p:nvPicPr>
              <p:cNvPr id="144" name="Google Shape;144;p2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2295600" cy="1009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5" name="Google Shape;145;p22"/>
              <p:cNvSpPr txBox="1"/>
              <p:nvPr/>
            </p:nvSpPr>
            <p:spPr>
              <a:xfrm>
                <a:off x="152400" y="114300"/>
                <a:ext cx="1981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93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⚙️ NuroMotion Feature</a:t>
                </a:r>
                <a:endParaRPr b="1" sz="893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765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Extracts joint velocity &amp; detects discrete STEP events</a:t>
                </a:r>
                <a:endParaRPr b="0" sz="76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" name="Google Shape;146;p22"/>
            <p:cNvGrpSpPr/>
            <p:nvPr/>
          </p:nvGrpSpPr>
          <p:grpSpPr>
            <a:xfrm>
              <a:off x="185738" y="3709988"/>
              <a:ext cx="2295600" cy="723900"/>
              <a:chOff x="-4762" y="-4762"/>
              <a:chExt cx="2295600" cy="723900"/>
            </a:xfrm>
          </p:grpSpPr>
          <p:pic>
            <p:nvPicPr>
              <p:cNvPr id="147" name="Google Shape;147;p2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22956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22"/>
              <p:cNvSpPr txBox="1"/>
              <p:nvPr/>
            </p:nvSpPr>
            <p:spPr>
              <a:xfrm>
                <a:off x="152400" y="114300"/>
                <a:ext cx="19812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93">
                    <a:solidFill>
                      <a:srgbClr val="0D9488"/>
                    </a:solidFill>
                    <a:latin typeface="Arial"/>
                    <a:ea typeface="Arial"/>
                    <a:cs typeface="Arial"/>
                    <a:sym typeface="Arial"/>
                  </a:rPr>
                  <a:t>⏱️ Phase Alignment</a:t>
                </a:r>
                <a:endParaRPr b="1" sz="893">
                  <a:solidFill>
                    <a:srgbClr val="0D94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765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Calculates millisecond error vs. audio beat</a:t>
                </a:r>
                <a:endParaRPr b="0" sz="76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9" name="Google Shape;149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276350" y="1381125"/>
              <a:ext cx="114300" cy="200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276350" y="2428875"/>
              <a:ext cx="114300" cy="200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276350" y="3571875"/>
              <a:ext cx="114300" cy="200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" name="Google Shape;152;p22"/>
          <p:cNvGrpSpPr/>
          <p:nvPr/>
        </p:nvGrpSpPr>
        <p:grpSpPr>
          <a:xfrm>
            <a:off x="3705225" y="1228725"/>
            <a:ext cx="2781300" cy="4686300"/>
            <a:chOff x="-9525" y="-9525"/>
            <a:chExt cx="2781300" cy="4686300"/>
          </a:xfrm>
        </p:grpSpPr>
        <p:pic>
          <p:nvPicPr>
            <p:cNvPr id="153" name="Google Shape;153;p2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-9525" y="-9525"/>
              <a:ext cx="2781300" cy="468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22"/>
            <p:cNvSpPr txBox="1"/>
            <p:nvPr/>
          </p:nvSpPr>
          <p:spPr>
            <a:xfrm>
              <a:off x="228600" y="190500"/>
              <a:ext cx="2305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B192C"/>
                  </a:solidFill>
                  <a:latin typeface="Arial"/>
                  <a:ea typeface="Arial"/>
                  <a:cs typeface="Arial"/>
                  <a:sym typeface="Arial"/>
                </a:rPr>
                <a:t>2. Measurement &amp; Metrics</a:t>
              </a:r>
              <a:endParaRPr b="1" sz="1300">
                <a:solidFill>
                  <a:srgbClr val="0B192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5" name="Google Shape;155;p22"/>
            <p:cNvGrpSpPr/>
            <p:nvPr/>
          </p:nvGrpSpPr>
          <p:grpSpPr>
            <a:xfrm>
              <a:off x="185738" y="566738"/>
              <a:ext cx="2390700" cy="1057200"/>
              <a:chOff x="-4762" y="-4762"/>
              <a:chExt cx="2390700" cy="1057200"/>
            </a:xfrm>
          </p:grpSpPr>
          <p:pic>
            <p:nvPicPr>
              <p:cNvPr id="156" name="Google Shape;156;p22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2390700" cy="10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7" name="Google Shape;157;p22"/>
              <p:cNvSpPr txBox="1"/>
              <p:nvPr/>
            </p:nvSpPr>
            <p:spPr>
              <a:xfrm>
                <a:off x="152400" y="133350"/>
                <a:ext cx="20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93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📊 Clinical Metrics Engine</a:t>
                </a:r>
                <a:endParaRPr b="1" sz="893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765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Computes real-time Cadence, Bilateral Symmetry &amp; RMSE Sync</a:t>
                </a:r>
                <a:endParaRPr b="0" sz="76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22"/>
            <p:cNvGrpSpPr/>
            <p:nvPr/>
          </p:nvGrpSpPr>
          <p:grpSpPr>
            <a:xfrm>
              <a:off x="185738" y="1804988"/>
              <a:ext cx="2390700" cy="1152600"/>
              <a:chOff x="-4762" y="-4762"/>
              <a:chExt cx="2390700" cy="1152600"/>
            </a:xfrm>
          </p:grpSpPr>
          <p:pic>
            <p:nvPicPr>
              <p:cNvPr id="159" name="Google Shape;159;p2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2390700" cy="1152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0" name="Google Shape;160;p22"/>
              <p:cNvSpPr txBox="1"/>
              <p:nvPr/>
            </p:nvSpPr>
            <p:spPr>
              <a:xfrm>
                <a:off x="152400" y="133350"/>
                <a:ext cx="20766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93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📈 Performance Score</a:t>
                </a:r>
                <a:endParaRPr b="1" sz="893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765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Maintains 12-second rolling buffer to evaluate stability</a:t>
                </a:r>
                <a:endParaRPr b="0" sz="76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22"/>
            <p:cNvGrpSpPr/>
            <p:nvPr/>
          </p:nvGrpSpPr>
          <p:grpSpPr>
            <a:xfrm>
              <a:off x="185738" y="3138488"/>
              <a:ext cx="2390700" cy="1295400"/>
              <a:chOff x="-4762" y="-4762"/>
              <a:chExt cx="2390700" cy="1295400"/>
            </a:xfrm>
          </p:grpSpPr>
          <p:pic>
            <p:nvPicPr>
              <p:cNvPr id="162" name="Google Shape;162;p22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2390700" cy="129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3" name="Google Shape;163;p22"/>
              <p:cNvSpPr txBox="1"/>
              <p:nvPr/>
            </p:nvSpPr>
            <p:spPr>
              <a:xfrm>
                <a:off x="152400" y="133350"/>
                <a:ext cx="20766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93">
                    <a:solidFill>
                      <a:srgbClr val="0D9488"/>
                    </a:solidFill>
                    <a:latin typeface="Arial"/>
                    <a:ea typeface="Arial"/>
                    <a:cs typeface="Arial"/>
                    <a:sym typeface="Arial"/>
                  </a:rPr>
                  <a:t>👁️ State Observer</a:t>
                </a:r>
                <a:endParaRPr b="1" sz="893">
                  <a:solidFill>
                    <a:srgbClr val="0D94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765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Determines trajectory (Improving, Stable, or Declining)</a:t>
                </a:r>
                <a:endParaRPr b="0" sz="76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64" name="Google Shape;164;p2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323975" y="1619250"/>
              <a:ext cx="114300" cy="247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2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323975" y="2952750"/>
              <a:ext cx="114300" cy="247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" name="Google Shape;166;p22"/>
          <p:cNvGrpSpPr/>
          <p:nvPr/>
        </p:nvGrpSpPr>
        <p:grpSpPr>
          <a:xfrm>
            <a:off x="6753225" y="1228725"/>
            <a:ext cx="2876700" cy="6781725"/>
            <a:chOff x="-9525" y="-9525"/>
            <a:chExt cx="2876700" cy="6781725"/>
          </a:xfrm>
        </p:grpSpPr>
        <p:pic>
          <p:nvPicPr>
            <p:cNvPr id="167" name="Google Shape;167;p2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-9525" y="-9525"/>
              <a:ext cx="2876700" cy="468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2"/>
            <p:cNvSpPr txBox="1"/>
            <p:nvPr/>
          </p:nvSpPr>
          <p:spPr>
            <a:xfrm>
              <a:off x="228600" y="190500"/>
              <a:ext cx="2400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3. P3 Agentic Core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9" name="Google Shape;169;p22"/>
            <p:cNvGrpSpPr/>
            <p:nvPr/>
          </p:nvGrpSpPr>
          <p:grpSpPr>
            <a:xfrm>
              <a:off x="190500" y="571500"/>
              <a:ext cx="2514600" cy="2152800"/>
              <a:chOff x="0" y="0"/>
              <a:chExt cx="2514600" cy="2152800"/>
            </a:xfrm>
          </p:grpSpPr>
          <p:sp>
            <p:nvSpPr>
              <p:cNvPr id="170" name="Google Shape;170;p22"/>
              <p:cNvSpPr/>
              <p:nvPr/>
            </p:nvSpPr>
            <p:spPr>
              <a:xfrm>
                <a:off x="0" y="0"/>
                <a:ext cx="2476500" cy="1714500"/>
              </a:xfrm>
              <a:prstGeom prst="roundRect">
                <a:avLst>
                  <a:gd fmla="val 5555" name="adj"/>
                </a:avLst>
              </a:prstGeom>
              <a:solidFill>
                <a:srgbClr val="FFFFFF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22"/>
              <p:cNvSpPr txBox="1"/>
              <p:nvPr/>
            </p:nvSpPr>
            <p:spPr>
              <a:xfrm>
                <a:off x="342900" y="723900"/>
                <a:ext cx="21717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🧠 Adaptive Engine</a:t>
                </a:r>
                <a:endPara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E6FFFA"/>
                    </a:solidFill>
                    <a:latin typeface="Arial"/>
                    <a:ea typeface="Arial"/>
                    <a:cs typeface="Arial"/>
                    <a:sym typeface="Arial"/>
                  </a:rPr>
                  <a:t>Evaluates patient entrainment. Proposes dynamic pacing modifications (e.g. INCREASE_TEMPO +3 BPM).</a:t>
                </a:r>
                <a:endParaRPr b="0" sz="950">
                  <a:solidFill>
                    <a:srgbClr val="E6FFF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2" name="Google Shape;172;p22"/>
            <p:cNvGrpSpPr/>
            <p:nvPr/>
          </p:nvGrpSpPr>
          <p:grpSpPr>
            <a:xfrm>
              <a:off x="190500" y="2476500"/>
              <a:ext cx="2514600" cy="4295700"/>
              <a:chOff x="0" y="0"/>
              <a:chExt cx="2514600" cy="4295700"/>
            </a:xfrm>
          </p:grpSpPr>
          <p:sp>
            <p:nvSpPr>
              <p:cNvPr id="173" name="Google Shape;173;p22"/>
              <p:cNvSpPr/>
              <p:nvPr/>
            </p:nvSpPr>
            <p:spPr>
              <a:xfrm>
                <a:off x="0" y="0"/>
                <a:ext cx="2476500" cy="1952700"/>
              </a:xfrm>
              <a:prstGeom prst="roundRect">
                <a:avLst>
                  <a:gd fmla="val 4878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22"/>
              <p:cNvSpPr txBox="1"/>
              <p:nvPr/>
            </p:nvSpPr>
            <p:spPr>
              <a:xfrm>
                <a:off x="342900" y="2628900"/>
                <a:ext cx="21717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93">
                    <a:solidFill>
                      <a:srgbClr val="991B1B"/>
                    </a:solidFill>
                    <a:latin typeface="Arial"/>
                    <a:ea typeface="Arial"/>
                    <a:cs typeface="Arial"/>
                    <a:sym typeface="Arial"/>
                  </a:rPr>
                  <a:t>🛡️ NuroActionValidator</a:t>
                </a:r>
                <a:endParaRPr b="1" sz="893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765">
                    <a:solidFill>
                      <a:srgbClr val="7F1D1D"/>
                    </a:solidFill>
                    <a:latin typeface="Arial"/>
                    <a:ea typeface="Arial"/>
                    <a:cs typeface="Arial"/>
                    <a:sym typeface="Arial"/>
                  </a:rPr>
                  <a:t>Deterministic Safety Bounds</a:t>
                </a:r>
                <a:endParaRPr b="1" sz="765">
                  <a:solidFill>
                    <a:srgbClr val="7F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765">
                    <a:solidFill>
                      <a:srgbClr val="451A03"/>
                    </a:solidFill>
                    <a:latin typeface="Arial"/>
                    <a:ea typeface="Arial"/>
                    <a:cs typeface="Arial"/>
                    <a:sym typeface="Arial"/>
                  </a:rPr>
                  <a:t>• Max BPM limit (40-140)</a:t>
                </a:r>
                <a:br>
                  <a:rPr b="0" lang="en-US" sz="765">
                    <a:solidFill>
                      <a:srgbClr val="451A03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0" lang="en-US" sz="765">
                    <a:solidFill>
                      <a:srgbClr val="451A03"/>
                    </a:solidFill>
                    <a:latin typeface="Arial"/>
                    <a:ea typeface="Arial"/>
                    <a:cs typeface="Arial"/>
                    <a:sym typeface="Arial"/>
                  </a:rPr>
                  <a:t>• Visual confidence &gt; 45%</a:t>
                </a:r>
                <a:br>
                  <a:rPr b="0" lang="en-US" sz="765">
                    <a:solidFill>
                      <a:srgbClr val="451A03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0" lang="en-US" sz="765">
                    <a:solidFill>
                      <a:srgbClr val="451A03"/>
                    </a:solidFill>
                    <a:latin typeface="Arial"/>
                    <a:ea typeface="Arial"/>
                    <a:cs typeface="Arial"/>
                    <a:sym typeface="Arial"/>
                  </a:rPr>
                  <a:t>• Prevents sudden velocity spikes</a:t>
                </a:r>
                <a:endParaRPr b="0" sz="765">
                  <a:solidFill>
                    <a:srgbClr val="451A0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75" name="Google Shape;175;p2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371600" y="2286000"/>
              <a:ext cx="114300" cy="247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22"/>
          <p:cNvGrpSpPr/>
          <p:nvPr/>
        </p:nvGrpSpPr>
        <p:grpSpPr>
          <a:xfrm>
            <a:off x="9896475" y="1228725"/>
            <a:ext cx="2686200" cy="4686300"/>
            <a:chOff x="-9525" y="-9525"/>
            <a:chExt cx="2686200" cy="4686300"/>
          </a:xfrm>
        </p:grpSpPr>
        <p:pic>
          <p:nvPicPr>
            <p:cNvPr id="177" name="Google Shape;177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2686200" cy="468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22"/>
            <p:cNvSpPr txBox="1"/>
            <p:nvPr/>
          </p:nvSpPr>
          <p:spPr>
            <a:xfrm>
              <a:off x="228600" y="190500"/>
              <a:ext cx="2209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B192C"/>
                  </a:solidFill>
                  <a:latin typeface="Arial"/>
                  <a:ea typeface="Arial"/>
                  <a:cs typeface="Arial"/>
                  <a:sym typeface="Arial"/>
                </a:rPr>
                <a:t>4. Cyber-Actuation</a:t>
              </a:r>
              <a:endParaRPr b="1" sz="1300">
                <a:solidFill>
                  <a:srgbClr val="0B192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9" name="Google Shape;179;p22"/>
            <p:cNvGrpSpPr/>
            <p:nvPr/>
          </p:nvGrpSpPr>
          <p:grpSpPr>
            <a:xfrm>
              <a:off x="185738" y="1519238"/>
              <a:ext cx="2295600" cy="1533600"/>
              <a:chOff x="-4762" y="-4762"/>
              <a:chExt cx="2295600" cy="1533600"/>
            </a:xfrm>
          </p:grpSpPr>
          <p:pic>
            <p:nvPicPr>
              <p:cNvPr id="180" name="Google Shape;180;p22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2295600" cy="15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1" name="Google Shape;181;p22"/>
              <p:cNvSpPr txBox="1"/>
              <p:nvPr/>
            </p:nvSpPr>
            <p:spPr>
              <a:xfrm>
                <a:off x="152400" y="152400"/>
                <a:ext cx="1981200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93">
                    <a:solidFill>
                      <a:srgbClr val="0D9488"/>
                    </a:solidFill>
                    <a:latin typeface="Arial"/>
                    <a:ea typeface="Arial"/>
                    <a:cs typeface="Arial"/>
                    <a:sym typeface="Arial"/>
                  </a:rPr>
                  <a:t>🎵 Audio Synthesizer</a:t>
                </a:r>
                <a:endParaRPr b="1" sz="893">
                  <a:solidFill>
                    <a:srgbClr val="0D94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765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Real-time acoustic cue adjustment. Modifies metronome beat timing instantly to guide patient gait.</a:t>
                </a:r>
                <a:endParaRPr b="0" sz="76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2" name="Google Shape;182;p22"/>
          <p:cNvGrpSpPr/>
          <p:nvPr/>
        </p:nvGrpSpPr>
        <p:grpSpPr>
          <a:xfrm>
            <a:off x="12849225" y="1228725"/>
            <a:ext cx="2657400" cy="4686300"/>
            <a:chOff x="-9525" y="-9525"/>
            <a:chExt cx="2657400" cy="4686300"/>
          </a:xfrm>
        </p:grpSpPr>
        <p:pic>
          <p:nvPicPr>
            <p:cNvPr id="183" name="Google Shape;183;p2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-9525" y="-9525"/>
              <a:ext cx="2657400" cy="468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22"/>
            <p:cNvSpPr txBox="1"/>
            <p:nvPr/>
          </p:nvSpPr>
          <p:spPr>
            <a:xfrm>
              <a:off x="228600" y="190500"/>
              <a:ext cx="2181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B192C"/>
                  </a:solidFill>
                  <a:latin typeface="Arial"/>
                  <a:ea typeface="Arial"/>
                  <a:cs typeface="Arial"/>
                  <a:sym typeface="Arial"/>
                </a:rPr>
                <a:t>5. Cloud Clinical Layer</a:t>
              </a:r>
              <a:endParaRPr b="1" sz="1300">
                <a:solidFill>
                  <a:srgbClr val="0B192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5" name="Google Shape;185;p22"/>
            <p:cNvGrpSpPr/>
            <p:nvPr/>
          </p:nvGrpSpPr>
          <p:grpSpPr>
            <a:xfrm>
              <a:off x="166688" y="566738"/>
              <a:ext cx="2305200" cy="866700"/>
              <a:chOff x="-4762" y="-4762"/>
              <a:chExt cx="2305200" cy="866700"/>
            </a:xfrm>
          </p:grpSpPr>
          <p:pic>
            <p:nvPicPr>
              <p:cNvPr id="186" name="Google Shape;186;p22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2305200" cy="866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7" name="Google Shape;187;p22"/>
              <p:cNvSpPr txBox="1"/>
              <p:nvPr/>
            </p:nvSpPr>
            <p:spPr>
              <a:xfrm>
                <a:off x="133350" y="114300"/>
                <a:ext cx="20289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93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💾 SQLite Database</a:t>
                </a:r>
                <a:endParaRPr b="1" sz="893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765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Stores raw telemetry &amp; session metrics</a:t>
                </a:r>
                <a:endParaRPr b="0" sz="76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" name="Google Shape;188;p22"/>
            <p:cNvGrpSpPr/>
            <p:nvPr/>
          </p:nvGrpSpPr>
          <p:grpSpPr>
            <a:xfrm>
              <a:off x="166688" y="1662113"/>
              <a:ext cx="2305200" cy="1057200"/>
              <a:chOff x="-4762" y="-4762"/>
              <a:chExt cx="2305200" cy="1057200"/>
            </a:xfrm>
          </p:grpSpPr>
          <p:pic>
            <p:nvPicPr>
              <p:cNvPr id="189" name="Google Shape;189;p22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2305200" cy="10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0" name="Google Shape;190;p22"/>
              <p:cNvSpPr txBox="1"/>
              <p:nvPr/>
            </p:nvSpPr>
            <p:spPr>
              <a:xfrm>
                <a:off x="133350" y="114300"/>
                <a:ext cx="2028900" cy="8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93">
                    <a:solidFill>
                      <a:srgbClr val="6D28D9"/>
                    </a:solidFill>
                    <a:latin typeface="Arial"/>
                    <a:ea typeface="Arial"/>
                    <a:cs typeface="Arial"/>
                    <a:sym typeface="Arial"/>
                  </a:rPr>
                  <a:t>✨ Gemini 2.5 Flash</a:t>
                </a:r>
                <a:endParaRPr b="1" sz="893">
                  <a:solidFill>
                    <a:srgbClr val="6D28D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765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Few-Shot LLM engine for clinical synthesis</a:t>
                </a:r>
                <a:endParaRPr b="0" sz="76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22"/>
            <p:cNvGrpSpPr/>
            <p:nvPr/>
          </p:nvGrpSpPr>
          <p:grpSpPr>
            <a:xfrm>
              <a:off x="166688" y="2928938"/>
              <a:ext cx="2305200" cy="1485900"/>
              <a:chOff x="-4762" y="-4762"/>
              <a:chExt cx="2305200" cy="1485900"/>
            </a:xfrm>
          </p:grpSpPr>
          <p:pic>
            <p:nvPicPr>
              <p:cNvPr id="192" name="Google Shape;192;p22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2305200" cy="1485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3" name="Google Shape;193;p22"/>
              <p:cNvSpPr txBox="1"/>
              <p:nvPr/>
            </p:nvSpPr>
            <p:spPr>
              <a:xfrm>
                <a:off x="133350" y="114300"/>
                <a:ext cx="2028900" cy="12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93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📝 Clinical SOAP Notes</a:t>
                </a:r>
                <a:endParaRPr b="1" sz="893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765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Automates EMR integration &amp; patient coaching feedback</a:t>
                </a:r>
                <a:endParaRPr b="0" sz="76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94" name="Google Shape;194;p2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257300" y="1428750"/>
              <a:ext cx="114300" cy="295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22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257300" y="2714625"/>
              <a:ext cx="114300" cy="2763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6" name="Google Shape;196;p2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3429000" y="4895850"/>
            <a:ext cx="3429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477000" y="3990975"/>
            <a:ext cx="3429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9620250" y="3390900"/>
            <a:ext cx="3429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2038350" y="3048000"/>
            <a:ext cx="9024900" cy="30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086350" y="1000125"/>
            <a:ext cx="8963100" cy="1381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22"/>
          <p:cNvGrpSpPr/>
          <p:nvPr/>
        </p:nvGrpSpPr>
        <p:grpSpPr>
          <a:xfrm>
            <a:off x="752475" y="6848475"/>
            <a:ext cx="14754300" cy="1733700"/>
            <a:chOff x="-9525" y="-9525"/>
            <a:chExt cx="14754300" cy="1733700"/>
          </a:xfrm>
        </p:grpSpPr>
        <p:pic>
          <p:nvPicPr>
            <p:cNvPr id="202" name="Google Shape;202;p22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-9525" y="-9525"/>
              <a:ext cx="14754300" cy="1733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p22"/>
            <p:cNvSpPr txBox="1"/>
            <p:nvPr/>
          </p:nvSpPr>
          <p:spPr>
            <a:xfrm>
              <a:off x="304800" y="228600"/>
              <a:ext cx="141255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75">
                  <a:solidFill>
                    <a:srgbClr val="0D9488"/>
                  </a:solidFill>
                  <a:latin typeface="Arial"/>
                  <a:ea typeface="Arial"/>
                  <a:cs typeface="Arial"/>
                  <a:sym typeface="Arial"/>
                </a:rPr>
                <a:t>End-to-End Operational Lifecycle</a:t>
              </a:r>
              <a:endParaRPr b="1" sz="1275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893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1. Local Edge Processing</a:t>
              </a:r>
              <a:endParaRPr b="1" sz="893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76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MediaPipe &amp; NuroMotion extract gait kinematics natively in-browser at 30+ FPS, ensuring 0ms server latency &amp; complete privacy.</a:t>
              </a:r>
              <a:endParaRPr b="0" sz="76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93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2. Agentic Closed-Loop Control</a:t>
              </a:r>
              <a:endParaRPr b="1" sz="893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76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 Adaptive Engine analyzes performance trends, proposing live tempo shifts validated deterministically before driving acoustic metronome feedback.</a:t>
              </a:r>
              <a:endParaRPr b="0" sz="76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93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3. Automated EMR Post-Processing</a:t>
              </a:r>
              <a:endParaRPr b="1" sz="893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76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Session telemetry streams directly to Gemini 2.5 Flash, structuring instant SOAP notes that eliminate 100% of documentation overhead.</a:t>
              </a:r>
              <a:endParaRPr b="0" sz="76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/>
          <p:nvPr/>
        </p:nvSpPr>
        <p:spPr>
          <a:xfrm>
            <a:off x="14987975" y="8844300"/>
            <a:ext cx="1175100" cy="153300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F4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15140375" y="8996700"/>
            <a:ext cx="1175100" cy="153300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F4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4"/>
          <p:cNvSpPr/>
          <p:nvPr/>
        </p:nvSpPr>
        <p:spPr>
          <a:xfrm>
            <a:off x="14987975" y="8844300"/>
            <a:ext cx="1175100" cy="153300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F4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